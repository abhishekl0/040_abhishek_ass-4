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7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6858000" cy="9144000"/>
  <p:embeddedFontLst>
    <p:embeddedFont>
      <p:font typeface="Helvetica World Bold" panose="020B0800040000020004" charset="-122"/>
      <p:bold r:id="rId22"/>
    </p:embeddedFont>
    <p:embeddedFont>
      <p:font typeface="Georgia Pro Condensed" panose="02040506050405020303"/>
      <p:regular r:id="rId23"/>
    </p:embeddedFont>
    <p:embeddedFont>
      <p:font typeface="Helvetica World" panose="020B0500040000020004" charset="-122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1844655" cy="102870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0F34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1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63905" y="6395085"/>
            <a:ext cx="7998460" cy="3002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Presented by </a:t>
            </a:r>
            <a:r>
              <a:rPr lang="en-IN" alt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ABHISHEK</a:t>
            </a:r>
            <a:endParaRPr lang="en-IN" altLang="en-US" sz="2575" b="1" spc="-38">
              <a:solidFill>
                <a:srgbClr val="EEEEEE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  <a:p>
            <a:pPr algn="l">
              <a:lnSpc>
                <a:spcPts val="3345"/>
              </a:lnSpc>
            </a:pPr>
            <a:r>
              <a:rPr 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ROLL NO. 250135004</a:t>
            </a:r>
            <a:r>
              <a:rPr lang="en-IN" alt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0</a:t>
            </a:r>
            <a:endParaRPr lang="en-US" sz="2575" b="1" spc="-38">
              <a:solidFill>
                <a:srgbClr val="EEEEEE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  <a:p>
            <a:pPr algn="l">
              <a:lnSpc>
                <a:spcPts val="3345"/>
              </a:lnSpc>
            </a:pPr>
            <a:r>
              <a:rPr 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DOMAIN : FULL STACK DEVELOPMENT COURSE</a:t>
            </a:r>
            <a:endParaRPr lang="en-US" sz="2575" b="1" spc="-38">
              <a:solidFill>
                <a:srgbClr val="EEEEEE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  <a:p>
            <a:pPr algn="l">
              <a:lnSpc>
                <a:spcPts val="3345"/>
              </a:lnSpc>
            </a:pPr>
            <a:r>
              <a:rPr 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CODE: ETCCP105 , C0URSE NAME :CS</a:t>
            </a:r>
            <a:endParaRPr lang="en-US" sz="2575" b="1" spc="-38">
              <a:solidFill>
                <a:srgbClr val="EEEEEE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  <a:p>
            <a:pPr algn="l">
              <a:lnSpc>
                <a:spcPts val="3345"/>
              </a:lnSpc>
            </a:pPr>
            <a:r>
              <a:rPr 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FUNDAMENTAL AND CAREER PATHWAYS</a:t>
            </a:r>
            <a:endParaRPr lang="en-US" sz="2575" b="1" spc="-38">
              <a:solidFill>
                <a:srgbClr val="EEEEEE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  <a:p>
            <a:pPr algn="l">
              <a:lnSpc>
                <a:spcPts val="3345"/>
              </a:lnSpc>
            </a:pPr>
            <a:r>
              <a:rPr lang="en-US" sz="2575" b="1" spc="-38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PROGRAMME: B.TECH CSE (FSD)”B”</a:t>
            </a:r>
            <a:endParaRPr lang="en-US" sz="2575" b="1" spc="-38">
              <a:solidFill>
                <a:srgbClr val="EEEEEE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  <a:p>
            <a:pPr marL="0" lvl="0" indent="0" algn="l">
              <a:lnSpc>
                <a:spcPts val="3345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762000" y="495300"/>
            <a:ext cx="7802880" cy="49676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10035"/>
              </a:lnSpc>
            </a:pPr>
            <a:r>
              <a:rPr lang="en-US" sz="9600" u="none" strike="noStrike" spc="-351">
                <a:solidFill>
                  <a:srgbClr val="FF0000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Tools for Programming, Learning, and Collaboration</a:t>
            </a:r>
            <a:endParaRPr lang="en-US" sz="9600" u="none" strike="noStrike" spc="-351">
              <a:solidFill>
                <a:srgbClr val="FF0000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2</a:t>
            </a:r>
            <a:endParaRPr lang="en-US" sz="2000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800225" y="1562100"/>
            <a:ext cx="12944475" cy="4057650"/>
            <a:chOff x="0" y="0"/>
            <a:chExt cx="17259300" cy="54102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EEEEEE"/>
                  </a:solidFill>
                  <a:latin typeface="Georgia Pro Condensed" panose="02040506050405020303"/>
                  <a:ea typeface="Georgia Pro Condensed" panose="02040506050405020303"/>
                  <a:cs typeface="Georgia Pro Condensed" panose="02040506050405020303"/>
                  <a:sym typeface="Georgia Pro Condensed" panose="02040506050405020303"/>
                </a:rPr>
                <a:t>Tools in Programming</a:t>
              </a:r>
              <a:endPara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2593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Enhancing Modern Workflows and Collaboration</a:t>
              </a:r>
              <a:endParaRPr lang="en-US" sz="2500" b="1" spc="-37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69166"/>
              <a:ext cx="13512134" cy="23410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In today's programming landscape, effective tools are essential for </a:t>
              </a:r>
              <a:r>
                <a:rPr lang="en-US" sz="2500" b="1" spc="-37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streamlining workflows</a:t>
              </a:r>
              <a:r>
                <a:rPr lang="en-US" sz="2500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, improving coding efficiency, and fostering collaboration, significantly impacting productivity and the quality of software development.</a:t>
              </a:r>
              <a:endParaRPr lang="en-US" sz="2500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09625"/>
            <a:ext cx="5448300" cy="308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E94560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Enhancing Coding Productivity</a:t>
            </a:r>
            <a:endParaRPr lang="en-US" sz="8000">
              <a:solidFill>
                <a:srgbClr val="E94560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Package Managers</a:t>
              </a:r>
              <a:endParaRPr lang="en-US" sz="3000" b="1" spc="-44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304714"/>
              <a:ext cx="9182100" cy="106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u="none" strike="noStrike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Package managers simplify dependency management in projects.</a:t>
              </a:r>
              <a:endPara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800" u="none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02</a:t>
            </a:r>
            <a:endParaRPr lang="en-US" sz="2800" u="none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800" u="none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01</a:t>
            </a:r>
            <a:endParaRPr lang="en-US" sz="2800" u="none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800" u="none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03</a:t>
            </a:r>
            <a:endParaRPr lang="en-US" sz="2800" u="none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918210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Debuggers</a:t>
              </a:r>
              <a:endParaRPr lang="en-US" sz="3000" b="1" u="none" strike="noStrike" spc="-44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304714"/>
              <a:ext cx="9182100" cy="106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u="none" strike="noStrike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Debuggers help identify and fix coding errors efficiently.</a:t>
              </a:r>
              <a:endPara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0734675" y="1562100"/>
            <a:ext cx="6886575" cy="1780223"/>
            <a:chOff x="0" y="0"/>
            <a:chExt cx="9182100" cy="237363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0"/>
              <a:ext cx="918210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Code Editors</a:t>
              </a:r>
              <a:endParaRPr lang="en-US" sz="3000" b="1" spc="-44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304714"/>
              <a:ext cx="9182100" cy="106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0"/>
                </a:lnSpc>
                <a:spcBef>
                  <a:spcPct val="0"/>
                </a:spcBef>
              </a:pPr>
              <a:r>
                <a:rPr lang="en-US" sz="2500" u="none" strike="noStrike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Code editors provide essential features for development.</a:t>
              </a:r>
              <a:endPara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4</a:t>
            </a:r>
            <a:endParaRPr lang="en-US" sz="2000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F3460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0225" y="1476375"/>
            <a:ext cx="1294447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Development Tools Overview</a:t>
            </a:r>
            <a:endParaRPr lang="en-US" sz="8000" spc="-240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EE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1"/>
              <a:stretch>
                <a:fillRect t="-414" b="-41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9296400" y="685800"/>
            <a:ext cx="8324850" cy="4219575"/>
            <a:chOff x="0" y="0"/>
            <a:chExt cx="11099800" cy="5626100"/>
          </a:xfrm>
        </p:grpSpPr>
        <p:sp>
          <p:nvSpPr>
            <p:cNvPr id="7" name="TextBox 7"/>
            <p:cNvSpPr txBox="1"/>
            <p:nvPr/>
          </p:nvSpPr>
          <p:spPr>
            <a:xfrm>
              <a:off x="0" y="66675"/>
              <a:ext cx="11099800" cy="4526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spc="-240">
                  <a:solidFill>
                    <a:srgbClr val="EEEEEE"/>
                  </a:solidFill>
                  <a:latin typeface="Georgia Pro Condensed" panose="02040506050405020303"/>
                  <a:ea typeface="Georgia Pro Condensed" panose="02040506050405020303"/>
                  <a:cs typeface="Georgia Pro Condensed" panose="02040506050405020303"/>
                  <a:sym typeface="Georgia Pro Condensed" panose="02040506050405020303"/>
                </a:rPr>
                <a:t>Popular Development Environments</a:t>
              </a:r>
              <a:endPara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067300"/>
              <a:ext cx="110998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IDEs Revolutionizing Coding Experiences</a:t>
              </a:r>
              <a:endParaRPr lang="en-US" sz="2500" b="1" spc="-37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296400" y="7416800"/>
            <a:ext cx="8324850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Integrated Development Environments (IDEs) like </a:t>
            </a:r>
            <a:r>
              <a:rPr lang="en-US" sz="2500" b="1" spc="-37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VS Code</a:t>
            </a:r>
            <a:r>
              <a:rPr lang="en-US" sz="2500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and JetBrains tools streamline the coding process, providing features such as intelligent code completion, debugging support, and customizable interfaces for enhanced productivity.</a:t>
            </a:r>
            <a:endParaRPr lang="en-US" sz="2500" spc="-37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923405"/>
            <a:ext cx="6886575" cy="260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Code editors streamline writing and editing source code</a:t>
            </a:r>
            <a:endParaRPr lang="en-US" sz="2500" u="none" strike="noStrike" spc="-37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Debuggers help identify and fix code errors efficiently</a:t>
            </a:r>
            <a:endParaRPr lang="en-US" sz="2500" u="none" strike="noStrike" spc="-37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Package managers automate software installation and dependency management</a:t>
            </a:r>
            <a:endParaRPr lang="en-US" sz="2500" u="none" strike="noStrike" spc="-37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6750" y="581025"/>
            <a:ext cx="6886575" cy="392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Supporting Development Tools</a:t>
            </a:r>
            <a:endParaRPr lang="en-US" sz="8000" spc="-240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1"/>
              <a:stretch>
                <a:fillRect t="-66" b="-6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1"/>
              <a:stretch>
                <a:fillRect t="-66" b="-6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510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Enhancing Productivity with Development Features</a:t>
            </a:r>
            <a:endParaRPr lang="en-US" sz="8000" u="none" strike="noStrike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6750" y="7416800"/>
            <a:ext cx="6886575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</a:pPr>
            <a:r>
              <a: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Key features like </a:t>
            </a:r>
            <a:r>
              <a:rPr lang="en-US" sz="2500" b="1" u="none" strike="noStrike" spc="-37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syntax highlighting</a:t>
            </a:r>
            <a:r>
              <a: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, useful extensions, and integrated terminals significantly boost coding efficiency. These tools streamline workflows, making it easier for developers to write, debug, and optimize their code effectively.</a:t>
            </a:r>
            <a:endParaRPr lang="en-US" sz="2500" u="none" strike="noStrike" spc="-37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8</a:t>
            </a:r>
            <a:endParaRPr lang="en-US" sz="2000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0225" y="1476375"/>
            <a:ext cx="1294447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Essential GitHub Commands</a:t>
            </a:r>
            <a:endParaRPr lang="en-US" sz="8000" spc="-240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1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226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Essential Git Commands</a:t>
            </a:r>
            <a:endParaRPr lang="en-US" sz="8000" spc="-240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296400" y="7854950"/>
            <a:ext cx="8324850" cy="176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Understanding </a:t>
            </a:r>
            <a:r>
              <a:rPr lang="en-US" sz="2500" b="1" u="none" strike="noStrike" spc="-37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common Git commands</a:t>
            </a:r>
            <a:r>
              <a:rPr lang="en-US" sz="2500" u="none" strike="noStrike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like git clone, git add, git commit, and git push is crucial for effective version control, enabling developers to collaborate seamlessly and track changes in code efficiently.</a:t>
            </a:r>
            <a:endParaRPr lang="en-US" sz="2500" u="none" strike="noStrike" spc="-37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96400" y="666750"/>
            <a:ext cx="8324850" cy="6716121"/>
            <a:chOff x="0" y="0"/>
            <a:chExt cx="1253399" cy="10111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3399" cy="1011187"/>
            </a:xfrm>
            <a:custGeom>
              <a:avLst/>
              <a:gdLst/>
              <a:ahLst/>
              <a:cxnLst/>
              <a:rect l="l" t="t" r="r" b="b"/>
              <a:pathLst>
                <a:path w="1253399" h="1011187">
                  <a:moveTo>
                    <a:pt x="18600" y="0"/>
                  </a:moveTo>
                  <a:lnTo>
                    <a:pt x="1234799" y="0"/>
                  </a:lnTo>
                  <a:cubicBezTo>
                    <a:pt x="1239732" y="0"/>
                    <a:pt x="1244463" y="1960"/>
                    <a:pt x="1247951" y="5448"/>
                  </a:cubicBezTo>
                  <a:cubicBezTo>
                    <a:pt x="1251439" y="8936"/>
                    <a:pt x="1253399" y="13667"/>
                    <a:pt x="1253399" y="18600"/>
                  </a:cubicBezTo>
                  <a:lnTo>
                    <a:pt x="1253399" y="992587"/>
                  </a:lnTo>
                  <a:cubicBezTo>
                    <a:pt x="1253399" y="997520"/>
                    <a:pt x="1251439" y="1002251"/>
                    <a:pt x="1247951" y="1005739"/>
                  </a:cubicBezTo>
                  <a:cubicBezTo>
                    <a:pt x="1244463" y="1009227"/>
                    <a:pt x="1239732" y="1011187"/>
                    <a:pt x="1234799" y="1011187"/>
                  </a:cubicBezTo>
                  <a:lnTo>
                    <a:pt x="18600" y="1011187"/>
                  </a:lnTo>
                  <a:cubicBezTo>
                    <a:pt x="13667" y="1011187"/>
                    <a:pt x="8936" y="1009227"/>
                    <a:pt x="5448" y="1005739"/>
                  </a:cubicBezTo>
                  <a:cubicBezTo>
                    <a:pt x="1960" y="1002251"/>
                    <a:pt x="0" y="997520"/>
                    <a:pt x="0" y="992587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blipFill>
              <a:blip r:embed="rId1"/>
              <a:stretch>
                <a:fillRect l="-109" r="-10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9296400" y="7829550"/>
            <a:ext cx="8324850" cy="907161"/>
            <a:chOff x="0" y="0"/>
            <a:chExt cx="11099800" cy="1209548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110998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Understanding Branching and Updates</a:t>
              </a:r>
              <a:endParaRPr lang="en-US" sz="2800" b="1" spc="-42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98703"/>
              <a:ext cx="11099800" cy="410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Efficiently manage your project versions.</a:t>
              </a:r>
              <a:endParaRPr lang="en-US" sz="2000" u="none" strike="noStrike" spc="-3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6750" y="733425"/>
            <a:ext cx="5753100" cy="44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E94560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Essential Git Commands for Version Control</a:t>
            </a:r>
            <a:endParaRPr lang="en-US" sz="8000" spc="-240">
              <a:solidFill>
                <a:srgbClr val="E94560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11</a:t>
            </a:r>
            <a:endParaRPr lang="en-US" sz="2000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0225" y="1476375"/>
            <a:ext cx="12944475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Documentation and Repository Structure</a:t>
            </a:r>
            <a:endParaRPr lang="en-US" sz="8000" spc="-240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96400" y="666750"/>
            <a:ext cx="4010025" cy="6716121"/>
            <a:chOff x="0" y="0"/>
            <a:chExt cx="698915" cy="1170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1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3611225" y="666750"/>
            <a:ext cx="4010025" cy="6716121"/>
            <a:chOff x="0" y="0"/>
            <a:chExt cx="698915" cy="1170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9296400" y="7829550"/>
            <a:ext cx="2876550" cy="1231011"/>
            <a:chOff x="0" y="0"/>
            <a:chExt cx="3835400" cy="164134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38354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src</a:t>
              </a:r>
              <a:endParaRPr lang="en-US" sz="2800" b="1" spc="-42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98703"/>
              <a:ext cx="3835400" cy="842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Essential for storing source code files.</a:t>
              </a:r>
              <a:endParaRPr lang="en-US" sz="2000" u="none" strike="noStrike" spc="-3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3611225" y="7865173"/>
            <a:ext cx="2876550" cy="1231011"/>
            <a:chOff x="0" y="0"/>
            <a:chExt cx="3835400" cy="16413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38354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docs</a:t>
              </a:r>
              <a:endParaRPr lang="en-US" sz="2800" b="1" spc="-42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98703"/>
              <a:ext cx="3835400" cy="842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Contains documentation and project guidelines.</a:t>
              </a:r>
              <a:endParaRPr lang="en-US" sz="2000" u="none" strike="noStrike" spc="-3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7021245" cy="3378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E94560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Best Practices for Repository Organization</a:t>
            </a:r>
            <a:endParaRPr lang="en-US" sz="8000" spc="-240">
              <a:solidFill>
                <a:srgbClr val="E94560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96400" y="666750"/>
            <a:ext cx="4010025" cy="6716121"/>
            <a:chOff x="0" y="0"/>
            <a:chExt cx="698915" cy="1170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1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3611225" y="666750"/>
            <a:ext cx="4010025" cy="6716121"/>
            <a:chOff x="0" y="0"/>
            <a:chExt cx="698915" cy="1170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EEEE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9296400" y="7829550"/>
            <a:ext cx="2876550" cy="1120586"/>
            <a:chOff x="0" y="0"/>
            <a:chExt cx="3835400" cy="14941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38354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Markdown</a:t>
              </a:r>
              <a:endParaRPr lang="en-US" sz="2800" b="1" spc="-42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98703"/>
              <a:ext cx="3835400" cy="69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40"/>
                </a:lnSpc>
                <a:spcBef>
                  <a:spcPct val="0"/>
                </a:spcBef>
              </a:pPr>
              <a:r>
                <a:rPr lang="en-US" sz="1660" u="none" strike="noStrike" spc="-24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Lightweight markup language for creating formatted text.</a:t>
              </a:r>
              <a:endParaRPr lang="en-US" sz="1660" u="none" strike="noStrike" spc="-24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3611225" y="7865173"/>
            <a:ext cx="2876550" cy="1120586"/>
            <a:chOff x="0" y="0"/>
            <a:chExt cx="3835400" cy="149411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38354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README</a:t>
              </a:r>
              <a:endParaRPr lang="en-US" sz="2800" b="1" spc="-42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98703"/>
              <a:ext cx="3835400" cy="69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40"/>
                </a:lnSpc>
                <a:spcBef>
                  <a:spcPct val="0"/>
                </a:spcBef>
              </a:pPr>
              <a:r>
                <a:rPr lang="en-US" sz="1660" u="none" strike="noStrike" spc="-24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Essential project documentation for user guidance.</a:t>
              </a:r>
              <a:endParaRPr lang="en-US" sz="1660" u="none" strike="noStrike" spc="-24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7021245" cy="44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E94560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Documentation Formats for Effective Collaboration</a:t>
            </a:r>
            <a:endParaRPr lang="en-US" sz="8000" spc="-240">
              <a:solidFill>
                <a:srgbClr val="E94560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14</a:t>
            </a:r>
            <a:endParaRPr lang="en-US" sz="2000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EEEEEE"/>
                  </a:solidFill>
                  <a:latin typeface="Georgia Pro Condensed" panose="02040506050405020303"/>
                  <a:ea typeface="Georgia Pro Condensed" panose="02040506050405020303"/>
                  <a:cs typeface="Georgia Pro Condensed" panose="02040506050405020303"/>
                  <a:sym typeface="Georgia Pro Condensed" panose="02040506050405020303"/>
                </a:rPr>
                <a:t>Conclusion</a:t>
              </a:r>
              <a:endPara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2593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Recap of tools for programming success</a:t>
              </a:r>
              <a:endParaRPr lang="en-US" sz="2500" b="1" spc="-37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69166"/>
              <a:ext cx="13512134" cy="1756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In summary, effective use of </a:t>
              </a:r>
              <a:r>
                <a:rPr lang="en-US" sz="2500" b="1" spc="-37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development tools</a:t>
              </a:r>
              <a:r>
                <a:rPr lang="en-US" sz="2500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, GitHub commands, and well-organized documentation are essential for enhancing productivity and collaboration in programming workflows, leading to successful projects.</a:t>
              </a:r>
              <a:endParaRPr lang="en-US" sz="2500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15</a:t>
            </a:r>
            <a:endParaRPr lang="en-US" sz="2000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800225" y="1562100"/>
            <a:ext cx="12944475" cy="4095750"/>
            <a:chOff x="0" y="0"/>
            <a:chExt cx="17259300" cy="54610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EEEEEE"/>
                  </a:solidFill>
                  <a:latin typeface="Georgia Pro Condensed" panose="02040506050405020303"/>
                  <a:ea typeface="Georgia Pro Condensed" panose="02040506050405020303"/>
                  <a:cs typeface="Georgia Pro Condensed" panose="02040506050405020303"/>
                  <a:sym typeface="Georgia Pro Condensed" panose="02040506050405020303"/>
                </a:rPr>
                <a:t>Reflections on Tool Use</a:t>
              </a:r>
              <a:endParaRPr lang="en-US" sz="8000" spc="-240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2593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Insights from personal experience and challenges</a:t>
              </a:r>
              <a:endParaRPr lang="en-US" sz="2500" b="1" spc="-37">
                <a:solidFill>
                  <a:srgbClr val="EEEEEE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69166"/>
              <a:ext cx="13512134" cy="2391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Navigating programming tools can be daunting, yet overcoming </a:t>
              </a:r>
              <a:r>
                <a:rPr lang="en-US" sz="2500" b="1" spc="-37">
                  <a:solidFill>
                    <a:srgbClr val="EEEEEE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learning curves</a:t>
              </a:r>
              <a:r>
                <a:rPr lang="en-US" sz="2500" spc="-37">
                  <a:solidFill>
                    <a:srgbClr val="EEEEEE"/>
                  </a:solidFill>
                  <a:latin typeface="Helvetica World" panose="020B0500040000020004" charset="-122"/>
                  <a:ea typeface="Helvetica World" panose="020B0500040000020004" charset="-122"/>
                  <a:cs typeface="Helvetica World" panose="020B0500040000020004" charset="-122"/>
                  <a:sym typeface="Helvetica World" panose="020B0500040000020004" charset="-122"/>
                </a:rPr>
                <a:t> fosters growth. Collaboration tools significantly enhance teamwork, leading to improved project outcomes and deeper understanding of coding practices.</a:t>
              </a:r>
              <a:endParaRPr lang="en-US" sz="2500" spc="-37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1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504622" y="3905145"/>
            <a:ext cx="8324850" cy="76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0"/>
              </a:lnSpc>
            </a:pPr>
            <a:r>
              <a:rPr lang="en-US" sz="4600" spc="-68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BY </a:t>
            </a:r>
            <a:r>
              <a:rPr lang="en-IN" altLang="en-US" sz="4600" spc="-68">
                <a:solidFill>
                  <a:srgbClr val="EEEEEE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ABHISHEK AGGARWAL</a:t>
            </a:r>
            <a:endParaRPr lang="en-IN" altLang="en-US" sz="4600" spc="-68">
              <a:solidFill>
                <a:srgbClr val="EEEEEE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51144" y="1953637"/>
            <a:ext cx="8317491" cy="19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5"/>
              </a:lnSpc>
            </a:pPr>
            <a:r>
              <a:rPr lang="en-US" sz="14955" spc="-523">
                <a:solidFill>
                  <a:srgbClr val="EEEEEE"/>
                </a:solidFill>
                <a:latin typeface="Georgia Pro Condensed" panose="02040506050405020303"/>
                <a:ea typeface="Georgia Pro Condensed" panose="02040506050405020303"/>
                <a:cs typeface="Georgia Pro Condensed" panose="02040506050405020303"/>
                <a:sym typeface="Georgia Pro Condensed" panose="02040506050405020303"/>
              </a:rPr>
              <a:t>Thank You</a:t>
            </a:r>
            <a:endParaRPr lang="en-US" sz="14955" spc="-523">
              <a:solidFill>
                <a:srgbClr val="EEEEEE"/>
              </a:solidFill>
              <a:latin typeface="Georgia Pro Condensed" panose="02040506050405020303"/>
              <a:ea typeface="Georgia Pro Condensed" panose="02040506050405020303"/>
              <a:cs typeface="Georgia Pro Condensed" panose="02040506050405020303"/>
              <a:sym typeface="Georgia Pro Condensed" panose="02040506050405020303"/>
            </a:endParaRP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2906</Words>
  <Application>WPS Presentation</Application>
  <PresentationFormat>On-screen Show (4:3)</PresentationFormat>
  <Paragraphs>116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Helvetica World Bold</vt:lpstr>
      <vt:lpstr>Georgia Pro Condensed</vt:lpstr>
      <vt:lpstr>Helvetica World</vt:lpstr>
      <vt:lpstr>Arial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048-KRISHNA GUPTA(ASS.4)</dc:title>
  <dc:creator/>
  <dc:description>Presentation - Tools for Programming, Learning, and Collaboration</dc:description>
  <cp:lastModifiedBy>Ankit Yadav</cp:lastModifiedBy>
  <cp:revision>2</cp:revision>
  <dcterms:created xsi:type="dcterms:W3CDTF">2006-08-16T00:00:00Z</dcterms:created>
  <dcterms:modified xsi:type="dcterms:W3CDTF">2025-11-29T12:55:11Z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3D3FCE7FC5FC4728923AB42C697F21B0_12</vt:lpwstr>
  </property>
  <property fmtid="{D5CDD505-2E9C-101B-9397-08002B2CF9AE}" pid="3" name="KSOProductBuildVer">
    <vt:lpwstr>2057-12.2.0.23158</vt:lpwstr>
  </property>
</Properties>
</file>